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gent-ai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20040"/>
            <a:ext cx="3931920" cy="66577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749808"/>
            <a:ext cx="1188720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组会分享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9888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从 RA 项目看 RAG 系统的工程化实践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7589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  <a:latin typeface="Microsoft YaHei"/>
              </a:rPr>
              <a:t>从文档入库、多路召回到可观测评估的完整链路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66344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离线入库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5768" y="494690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35808" y="466344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在线链路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01768" y="494690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21808" y="466344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多路召回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4946904"/>
            <a:ext cx="32004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07808" y="4663440"/>
            <a:ext cx="19659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可观测评估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15-20 分钟汇报路线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不逐题讲概念，而是把 RAG 知识点落到 RA 项目链路上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87168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063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2139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1. 先看地图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7"/>
            <a:ext cx="2139696" cy="245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系统全景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RAG 解决什么问题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28800"/>
            <a:ext cx="2487168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73152" cy="3063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75104"/>
            <a:ext cx="2139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2. 再看入库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350007"/>
            <a:ext cx="2139696" cy="245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文档解析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结构化 Chunking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向量化与索引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487168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28800"/>
            <a:ext cx="73152" cy="3063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975104"/>
            <a:ext cx="2139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3. 重点讲在线链路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50007"/>
            <a:ext cx="2139696" cy="245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Query Rewrite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意图路由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歧义引导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多路召回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487168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828800"/>
            <a:ext cx="73152" cy="3063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975104"/>
            <a:ext cx="2139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4. 最后讲落地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350007"/>
            <a:ext cx="2139696" cy="245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Rerank 与 Prompt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Trace 定位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评估闭环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532120"/>
            <a:ext cx="1920240" cy="347472"/>
          </a:xfrm>
          <a:prstGeom prst="roundRect">
            <a:avLst/>
          </a:prstGeom>
          <a:solidFill>
            <a:srgbClr val="E7F8F6"/>
          </a:solidFill>
          <a:ln>
            <a:solidFill>
              <a:srgbClr val="A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C2626"/>
                </a:solidFill>
                <a:latin typeface="Microsoft YaHei"/>
              </a:rPr>
              <a:t>砍掉：模块分层 / Embedding 细节 / MCP 专题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RA 的 RAG 系统全景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一次回答不是“向量检索 + LLM”，而是一条可编排、可短路、可观测的工程链路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89888"/>
            <a:ext cx="6812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gent-chain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04636"/>
            <a:ext cx="6812280" cy="38339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8862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50876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655064"/>
            <a:ext cx="35387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讲述重点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029967"/>
            <a:ext cx="3538728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把听众先带到同一张地图上：</a:t>
            </a:r>
          </a:p>
          <a:p/>
          <a:p>
            <a:r>
              <a:rPr sz="1320">
                <a:solidFill>
                  <a:srgbClr val="566478"/>
                </a:solidFill>
                <a:latin typeface="Microsoft YaHei"/>
              </a:rPr>
              <a:t>用户问题进入系统后，会依次经历记忆加载、问题改写、意图解析、歧义处理、检索、Prompt 组装和流式生成。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03320"/>
            <a:ext cx="3886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70332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3849624"/>
            <a:ext cx="35387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核心判断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224527"/>
            <a:ext cx="3538728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RAG 工程化的难点不在“能不能召回”，而在：</a:t>
            </a:r>
          </a:p>
          <a:p/>
          <a:p>
            <a:r>
              <a:rPr sz="1320">
                <a:solidFill>
                  <a:srgbClr val="566478"/>
                </a:solidFill>
                <a:latin typeface="Microsoft YaHei"/>
              </a:rPr>
              <a:t>召回哪里、召回多少、如何筛选、如何证明回答可信。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为什么 RA 项目需要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RAG 的目标不是替代模型能力，而是把私域知识变成可控、可追溯的回答依据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30358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知识时效性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93975"/>
            <a:ext cx="303580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业务文档、制度、产品说明持续变化，RAG 可以通过知识库更新吸收新内容。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72768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72768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719072"/>
            <a:ext cx="30358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私域知识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93975"/>
            <a:ext cx="303580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模型预训练里没有企业内部流程、业务规则、系统文档，需要从项目知识库检索。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72768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72768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719072"/>
            <a:ext cx="30358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093975"/>
            <a:ext cx="303580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回答可以绑定检索证据，后续能通过 Trace、评估和反馈定位问题。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160520"/>
            <a:ext cx="2103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用户问题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0" y="4443984"/>
            <a:ext cx="5029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86200" y="4160520"/>
            <a:ext cx="2103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检索证据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9320" y="4443984"/>
            <a:ext cx="5029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92240" y="4160520"/>
            <a:ext cx="2103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约束生成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4443984"/>
            <a:ext cx="5029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98280" y="4160520"/>
            <a:ext cx="2103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可评估答案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6636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66478"/>
                </a:solidFill>
                <a:latin typeface="Microsoft YaHei"/>
              </a:defRPr>
            </a:pPr>
            <a:r>
              <a:t>这一页只讲项目动机，不展开微调对比</a:t>
            </a:r>
          </a:p>
          <a:p>
            <a:pPr>
              <a:spcAft>
                <a:spcPts val="700"/>
              </a:spcAft>
              <a:defRPr sz="1500">
                <a:solidFill>
                  <a:srgbClr val="566478"/>
                </a:solidFill>
                <a:latin typeface="Microsoft YaHei"/>
              </a:defRPr>
            </a:pPr>
            <a:r>
              <a:t>RAG 更适合外部知识注入、持续更新和答案可追溯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离线入库：文档如何变成可检索知识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入库链路决定了召回上限；在线检索很难弥补低质量 Chunk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60350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gestion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656" y="1298448"/>
            <a:ext cx="1182448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03720" y="1325880"/>
            <a:ext cx="4389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325880"/>
            <a:ext cx="73152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472184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Fetcher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1847087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拉取本地、远程、S3/Feishu 等来源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441448"/>
            <a:ext cx="4389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441448"/>
            <a:ext cx="73152" cy="8412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2587752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2962655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解析 Markdown、Excel、PDF、图片等格式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557015"/>
            <a:ext cx="4389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557015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703319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Chunker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407822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按结构与语义切分，生成 VectorChunk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672584"/>
            <a:ext cx="43891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4672584"/>
            <a:ext cx="73152" cy="8412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4818888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213D"/>
                </a:solidFill>
                <a:latin typeface="Microsoft YaHei"/>
              </a:rPr>
              <a:t>Indexer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5193791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Embedding 后写入 PgVector / Milvus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Chunking：切块不是按字数切完就结束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结构化分块的目标：保留语义边界，同时控制每个 Chunk 的上下文体量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44752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44752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优先走结构化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65959"/>
            <a:ext cx="491032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Parser 如果产出 heading / paragraph / table / list / image / code 等结构，Chunker 会按 block-aware 策略处理。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26664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没有结构时走文本策略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01567"/>
            <a:ext cx="491032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blocks 为空时，系统回退到固定大小或语义感知文本切分，并保留 overlap。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159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15968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462272"/>
            <a:ext cx="49103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特殊内容单独处理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837175"/>
            <a:ext cx="491032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表格控制行数，列表控制 item 数，图片先转知识文本，避免重要信息被切散。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572768"/>
            <a:ext cx="489204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572768"/>
            <a:ext cx="73152" cy="2788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1719072"/>
            <a:ext cx="4544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讲清一个取舍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093975"/>
            <a:ext cx="4544568" cy="2185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Chunk 太大：召回噪声高、上下文浪费。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Chunk 太小：语义被切断、context recall 下降。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4892040"/>
            <a:ext cx="1920240" cy="347472"/>
          </a:xfrm>
          <a:prstGeom prst="roundRect">
            <a:avLst/>
          </a:prstGeom>
          <a:solidFill>
            <a:srgbClr val="E7F8F6"/>
          </a:solidFill>
          <a:ln>
            <a:solidFill>
              <a:srgbClr val="A7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9488"/>
                </a:solidFill>
                <a:latin typeface="Microsoft YaHei"/>
              </a:rPr>
              <a:t>建议讲 1.5 分钟即可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在线链路：一次问题如何走完整个系统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这页是汇报主轴，后面几页都围绕这条 Pipeline 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loadMemory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179222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95728" y="150876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rewriteQuery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04488" y="179222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33088" y="150876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resolveIntents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41848" y="179222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70448" y="150876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guidance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79208" y="179222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07808" y="150876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retrieve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16568" y="1792224"/>
            <a:ext cx="22860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45168" y="150876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streamRagResponse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34290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88920"/>
            <a:ext cx="73152" cy="19933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293522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短路分支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310127"/>
            <a:ext cx="30815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歧义问题：先返回引导问题</a:t>
            </a:r>
          </a:p>
          <a:p>
            <a:r>
              <a:rPr sz="1320">
                <a:solidFill>
                  <a:srgbClr val="566478"/>
                </a:solidFill>
                <a:latin typeface="Microsoft YaHei"/>
              </a:rPr>
              <a:t>系统闲聊：不做检索直接回复</a:t>
            </a:r>
          </a:p>
          <a:p>
            <a:r>
              <a:rPr sz="1320">
                <a:solidFill>
                  <a:srgbClr val="566478"/>
                </a:solidFill>
                <a:latin typeface="Microsoft YaHei"/>
              </a:rPr>
              <a:t>无检索结果：明确提示没有相关文档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788920"/>
            <a:ext cx="34290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2788920"/>
            <a:ext cx="73152" cy="19933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2935224"/>
            <a:ext cx="30815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工程价值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310127"/>
            <a:ext cx="30815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把 RAG 拆成可观测阶段，而不是一个黑盒函数。</a:t>
            </a:r>
          </a:p>
          <a:p/>
          <a:p>
            <a:r>
              <a:rPr sz="1320">
                <a:solidFill>
                  <a:srgbClr val="566478"/>
                </a:solidFill>
                <a:latin typeface="Microsoft YaHei"/>
              </a:rPr>
              <a:t>每个阶段都能单独调参、替换、打 Trace。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788920"/>
            <a:ext cx="320040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2788920"/>
            <a:ext cx="73152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2935224"/>
            <a:ext cx="2852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代码锚点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310127"/>
            <a:ext cx="2852928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StreamChatPipeline.execute()</a:t>
            </a:r>
          </a:p>
          <a:p/>
          <a:p>
            <a:r>
              <a:rPr sz="1320">
                <a:solidFill>
                  <a:srgbClr val="566478"/>
                </a:solidFill>
                <a:latin typeface="Microsoft YaHei"/>
              </a:rPr>
              <a:t>这条链路定义了 RA 项目的在线问答主流程。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Query Rewrite：把用户问法转换成检索友好的问法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它解决的是“用户怎么问”和“知识怎么存”之间的不一致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7"/>
            <a:ext cx="3127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结合会话历史，把口语化、指代、省略、多问句整理成更适合检索的查询。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56362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为什么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938527"/>
            <a:ext cx="3127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向量检索对 query 表达很敏感；改写可以提高召回覆盖，拆分可以减少多意图互相干扰。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563624"/>
            <a:ext cx="3127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失败怎么办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38527"/>
            <a:ext cx="31272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改写失败时回退原问题；多问题拆分失败时可以规则兜底，避免链路中断。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3657600"/>
            <a:ext cx="9555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25880" y="365760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7048" y="3803904"/>
            <a:ext cx="92080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例子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178807"/>
            <a:ext cx="92080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原问题：报销怎么弄，发票要啥？</a:t>
            </a:r>
          </a:p>
          <a:p/>
          <a:p>
            <a:r>
              <a:rPr sz="1500">
                <a:solidFill>
                  <a:srgbClr val="566478"/>
                </a:solidFill>
                <a:latin typeface="Microsoft YaHei"/>
              </a:rPr>
              <a:t>拆分后：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1. 报销流程是什么？</a:t>
            </a:r>
          </a:p>
          <a:p>
            <a:r>
              <a:rPr sz="1500">
                <a:solidFill>
                  <a:srgbClr val="566478"/>
                </a:solidFill>
                <a:latin typeface="Microsoft YaHei"/>
              </a:rPr>
              <a:t>2. 开票/发票信息需要哪些材料？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意图路由：先判断该去哪里找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意图识别决定检索目标，也决定后续 Prompt 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00784"/>
            <a:ext cx="2852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13D"/>
                </a:solidFill>
                <a:latin typeface="Microsoft YaHei"/>
              </a:rPr>
              <a:t>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285292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66478"/>
                </a:solidFill>
                <a:latin typeface="Microsoft YaHei"/>
              </a:rPr>
              <a:t>进入知识库检索：制度、文档、FAQ、产品说明。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544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700784"/>
            <a:ext cx="2852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13D"/>
                </a:solidFill>
                <a:latin typeface="Microsoft YaHei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75687"/>
            <a:ext cx="285292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66478"/>
                </a:solidFill>
                <a:latin typeface="Microsoft YaHei"/>
              </a:rPr>
              <a:t>纯系统交互：打招呼、自我介绍、无需检索的直接回复。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5448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55448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700784"/>
            <a:ext cx="2852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4213D"/>
                </a:solidFill>
                <a:latin typeface="Microsoft YaHei"/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075687"/>
            <a:ext cx="285292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66478"/>
                </a:solidFill>
                <a:latin typeface="Microsoft YaHei"/>
              </a:rPr>
              <a:t>工具调用场景：实时数据、外部动作、结构化查询。这里只点到，不做专题展开。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703320"/>
            <a:ext cx="10058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370332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3849624"/>
            <a:ext cx="971092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项目策略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224527"/>
            <a:ext cx="971092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66478"/>
                </a:solidFill>
                <a:latin typeface="Microsoft YaHei"/>
              </a:rPr>
              <a:t>对每个子问题并行分类，过滤低分意图，并限制总意图数量。</a:t>
            </a:r>
          </a:p>
          <a:p/>
          <a:p>
            <a:r>
              <a:rPr sz="1400">
                <a:solidFill>
                  <a:srgbClr val="566478"/>
                </a:solidFill>
                <a:latin typeface="Microsoft YaHei"/>
              </a:rPr>
              <a:t>这个策略让检索既能聚焦，又不会因为多问句失控。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歧义引导：不确定时先问清楚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比起盲目召回，先澄清问题能显著降低错误答案风险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09344"/>
            <a:ext cx="2898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触发场景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7"/>
            <a:ext cx="28986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同一个问题命中多个相近 KB 意图，且 top-2 分数接近。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6304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609344"/>
            <a:ext cx="2898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系统动作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7"/>
            <a:ext cx="28986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短路正常检索流程，直接返回一个引导用户选择的澄清问题。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630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46304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609344"/>
            <a:ext cx="2898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84247"/>
            <a:ext cx="289864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减少误路由、误召回和幻觉，让系统在不确定时表现得更稳。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03320"/>
            <a:ext cx="9966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703320"/>
            <a:ext cx="731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3849624"/>
            <a:ext cx="96194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可以这样举例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224527"/>
            <a:ext cx="961948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用户问：数据安全规范是什么？</a:t>
            </a:r>
          </a:p>
          <a:p/>
          <a:p>
            <a:r>
              <a:rPr sz="1500">
                <a:solidFill>
                  <a:srgbClr val="566478"/>
                </a:solidFill>
                <a:latin typeface="Microsoft YaHei"/>
              </a:rPr>
              <a:t>系统可引导：你想了解 OA 系统的数据安全，还是互联网保险系统的数据安全？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多路召回：RA 项目的检索核心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高置信度走定向检索，低置信度用全局检索兜底或补充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58978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ulti-channel-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97638"/>
            <a:ext cx="5897880" cy="16570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12280" y="1417320"/>
            <a:ext cx="4434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3448" y="1563624"/>
            <a:ext cx="4087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IntentDirectedSearch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1938527"/>
            <a:ext cx="408736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优先级 1。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识别到 KB 意图后，去意图绑定的 collection 检索。适合明确问题，精准度高。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063240"/>
            <a:ext cx="4434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306324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3209544"/>
            <a:ext cx="4087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VectorGlobalSearch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3584447"/>
            <a:ext cx="408736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优先级 10。</a:t>
            </a:r>
          </a:p>
          <a:p/>
          <a:p>
            <a:r>
              <a:rPr sz="1300">
                <a:solidFill>
                  <a:srgbClr val="566478"/>
                </a:solidFill>
                <a:latin typeface="Microsoft YaHei"/>
              </a:rPr>
              <a:t>当意图低置信度、定向通道关闭或单一中等置信度时启用，负责兜底和补充。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4709160"/>
            <a:ext cx="44348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12280" y="4709160"/>
            <a:ext cx="7315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4855464"/>
            <a:ext cx="4087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讲述关键词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5230367"/>
            <a:ext cx="4087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66478"/>
                </a:solidFill>
                <a:latin typeface="Microsoft YaHei"/>
              </a:rPr>
              <a:t>并行、互补、阈值控制、TopK multiplier、失败不拖垮整体链路。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Rerank 后处理：召回多不等于上下文好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后处理链把多通道结果变成最终喂给 LLM 的高质量证据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87451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多通道原始结果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59" y="1837944"/>
            <a:ext cx="2743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79" y="1554480"/>
            <a:ext cx="187451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Dedup 去重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0598" y="1837944"/>
            <a:ext cx="2743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18" y="1554480"/>
            <a:ext cx="187451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Rerank 重排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37" y="1837944"/>
            <a:ext cx="2743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23757" y="1554480"/>
            <a:ext cx="187451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TopK 截断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76" y="1837944"/>
            <a:ext cx="274320" cy="0"/>
          </a:xfrm>
          <a:prstGeom prst="line">
            <a:avLst/>
          </a:prstGeom>
          <a:ln w="22860">
            <a:solidFill>
              <a:srgbClr val="A0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72596" y="1554480"/>
            <a:ext cx="187451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14213D"/>
                </a:solidFill>
                <a:latin typeface="Microsoft YaHei"/>
              </a:rPr>
              <a:t>最终上下文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743200"/>
            <a:ext cx="4892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743200"/>
            <a:ext cx="73152" cy="1325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889504"/>
            <a:ext cx="4544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Deduplication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264407"/>
            <a:ext cx="4544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66478"/>
                </a:solidFill>
                <a:latin typeface="Microsoft YaHei"/>
              </a:rPr>
              <a:t>始终启用，按 Chunk ID 或内容 hash 去重；同一个 Chunk 多通道命中时保留更高分结果。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48920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889504"/>
            <a:ext cx="45445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264407"/>
            <a:ext cx="4544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66478"/>
                </a:solidFill>
                <a:latin typeface="Microsoft YaHei"/>
              </a:rPr>
              <a:t>最后执行，调用 Rerank 模型重新排序；项目里 TopK 截断也发生在这里。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800600"/>
            <a:ext cx="89611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91640" y="4800600"/>
            <a:ext cx="73152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92808" y="4946904"/>
            <a:ext cx="8613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要强调的坑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5321807"/>
            <a:ext cx="86136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20">
                <a:solidFill>
                  <a:srgbClr val="566478"/>
                </a:solidFill>
                <a:latin typeface="Microsoft YaHei"/>
              </a:rPr>
              <a:t>如果关闭 Rerank，只剩 merged + dedup 的结果进入生成，可能出现上下文过多或噪声变大。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Prompt 证据组装：让模型基于材料回答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Prompt 的重点不是写得花，而是把系统指令、历史、证据和问题放在正确位置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31729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场景选择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7"/>
            <a:ext cx="317296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KB_ONLY / MCP_ONLY / MIXED 三类场景选择不同模板。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729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消息顺序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38527"/>
            <a:ext cx="317296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system prompt → conversation history → evidence + question。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563624"/>
            <a:ext cx="31729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证据格式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1938527"/>
            <a:ext cx="317296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KB context 和工具数据会被格式化成结构化上下文，再与用户问题合并。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657600"/>
            <a:ext cx="9692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365760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5608" y="3803904"/>
            <a:ext cx="93451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213D"/>
                </a:solidFill>
                <a:latin typeface="Microsoft YaHei"/>
              </a:rPr>
              <a:t>讲述重点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4178807"/>
            <a:ext cx="934516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66478"/>
                </a:solidFill>
                <a:latin typeface="Microsoft YaHei"/>
              </a:rPr>
              <a:t>减少幻觉不是只靠一句“不要编造”。</a:t>
            </a:r>
          </a:p>
          <a:p/>
          <a:p>
            <a:r>
              <a:rPr sz="1500">
                <a:solidFill>
                  <a:srgbClr val="566478"/>
                </a:solidFill>
                <a:latin typeface="Microsoft YaHei"/>
              </a:rPr>
              <a:t>更关键的是：检索证据质量、上下文顺序、Prompt 场景、温度参数共同约束模型输出。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13D"/>
                </a:solidFill>
                <a:latin typeface="Microsoft YaHei"/>
              </a:rPr>
              <a:t>Trace 与评估：RAG 出错时怎么定位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778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478"/>
                </a:solidFill>
                <a:latin typeface="Microsoft YaHei"/>
              </a:rPr>
              <a:t>组会里这页很重要：证明系统不是黑盒，而是能诊断、能复盘、能迭代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98448"/>
            <a:ext cx="57150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-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79552"/>
            <a:ext cx="5715000" cy="32383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1325880"/>
            <a:ext cx="4617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32588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472184"/>
            <a:ext cx="4270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Trace 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1847087"/>
            <a:ext cx="4270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关键节点打 @RagTraceNode：rewrite、intent、retrieval、multi-channel、LLM 等阶段都能看耗时和状态。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788920"/>
            <a:ext cx="4617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788920"/>
            <a:ext cx="731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2935224"/>
            <a:ext cx="4270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评估指标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3310127"/>
            <a:ext cx="4270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意图准确率、Hit@K / Recall@K / MRR、Tool 调用准确率、拒答正确性、RAGAS 五指标。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4251960"/>
            <a:ext cx="4617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425196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4398264"/>
            <a:ext cx="42702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Microsoft YaHei"/>
              </a:rPr>
              <a:t>排障读法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4773167"/>
            <a:ext cx="42702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66478"/>
                </a:solidFill>
                <a:latin typeface="Microsoft YaHei"/>
              </a:rPr>
              <a:t>召回漏了看 chunk / 路由；召回脏了看 rerank / topK；答案编了看 Prompt / 模型约束。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69494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icrosoft YaHei"/>
              </a:rPr>
              <a:t>总结：RAG 工程化的三个关键词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2024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92024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066544"/>
            <a:ext cx="28072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4213D"/>
                </a:solidFill>
                <a:latin typeface="Microsoft YaHei"/>
              </a:rPr>
              <a:t>可路由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441447"/>
            <a:ext cx="280720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66478"/>
                </a:solidFill>
                <a:latin typeface="Microsoft YaHei"/>
              </a:rPr>
              <a:t>Query Rewrite + 意图树，让问题先找到正确方向。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920240"/>
            <a:ext cx="73152" cy="2148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066544"/>
            <a:ext cx="28072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4213D"/>
                </a:solidFill>
                <a:latin typeface="Microsoft YaHei"/>
              </a:rPr>
              <a:t>可扩展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441447"/>
            <a:ext cx="280720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66478"/>
                </a:solidFill>
                <a:latin typeface="Microsoft YaHei"/>
              </a:rPr>
              <a:t>SearchChannel / PostProcessor / IngestionNode 都是扩展点。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920240"/>
            <a:ext cx="3154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19" y="192024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7" y="2066544"/>
            <a:ext cx="28072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4213D"/>
                </a:solidFill>
                <a:latin typeface="Microsoft YaHei"/>
              </a:rPr>
              <a:t>可评估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7" y="2441447"/>
            <a:ext cx="280720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66478"/>
                </a:solidFill>
                <a:latin typeface="Microsoft YaHei"/>
              </a:rPr>
              <a:t>Trace + Feedback + Eval，让优化有依据。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E2E8F0"/>
                </a:solidFill>
                <a:latin typeface="Microsoft YaHei"/>
              </a:rPr>
              <a:t>这次分享的核心：不是介绍一个 RAG Demo，而是拆解一套能上线、能调优、能复盘的 RAG 链路。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D8BA0"/>
                </a:solidFill>
                <a:latin typeface="Microsoft YaHei"/>
              </a:rPr>
              <a:t>RA 项目 RAG 工程化实践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