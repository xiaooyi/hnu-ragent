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gent-ai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"/>
            <a:ext cx="4297680" cy="72771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749808"/>
            <a:ext cx="118872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组会分享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35024"/>
            <a:ext cx="80924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Microsoft YaHei"/>
              </a:rPr>
              <a:t>从 RA 项目看 RAG 系统的工程化实践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CBD5E1"/>
                </a:solidFill>
                <a:latin typeface="Microsoft YaHei"/>
              </a:rPr>
              <a:t>更详细版：从文档入库、意图路由、多路召回、Rerank 到 Trace / 评估闭环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75488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离线入库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15768" y="503834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35808" y="475488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在线链路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01768" y="503834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21808" y="475488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检索优化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87768" y="503834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07808" y="475488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可观测评估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这次汇报怎么组织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把 RAG 主题重组为一条项目链路：先有知识，再有检索，最后有诊断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63624"/>
            <a:ext cx="685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63EB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56362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从知识入库开始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1920240"/>
            <a:ext cx="23317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566478"/>
                </a:solidFill>
                <a:latin typeface="Microsoft YaHei"/>
              </a:rPr>
              <a:t>解析、分块、向量化和索引，决定召回上限。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63624"/>
            <a:ext cx="685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9488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156362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再讲在线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1920240"/>
            <a:ext cx="23317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566478"/>
                </a:solidFill>
                <a:latin typeface="Microsoft YaHei"/>
              </a:rPr>
              <a:t>记忆、改写、意图、短路、检索、生成。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563624"/>
            <a:ext cx="685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9E0B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3" y="156362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重点讲检索优化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3" y="1920240"/>
            <a:ext cx="23317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566478"/>
                </a:solidFill>
                <a:latin typeface="Microsoft YaHei"/>
              </a:rPr>
              <a:t>意图定向 + 全局兜底 + 去重 + 重排。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337560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337560"/>
            <a:ext cx="73152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483864"/>
            <a:ext cx="47731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本版增加的细节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858767"/>
            <a:ext cx="477316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关键配置：topK、阈值、multiplier、记忆窗口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关键代码：Pipeline、IntentResolver、RetrievalEngine、PostProcessor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关键诊断：Trace 节点、指标联读、问题归因路径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337560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337560"/>
            <a:ext cx="73152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483864"/>
            <a:ext cx="47731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仍然不展开的内容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858767"/>
            <a:ext cx="477316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不讲模型训练细节、不讲向量数据库内核、不讲 MCP 协议专题、不讲前端实现。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这些会占时间，但对本次组会主线帮助不大。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RA 的 RAG 系统全景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不是“问题 -&gt; 向量库 -&gt; LLM”，而是一条可短路、可扩展、可观测的链路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6537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gent-chain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04689"/>
            <a:ext cx="6537960" cy="367955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417320"/>
            <a:ext cx="43434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8" y="1563624"/>
            <a:ext cx="3995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三个阶段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1938527"/>
            <a:ext cx="399592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566478"/>
                </a:solidFill>
                <a:latin typeface="Microsoft YaHei"/>
              </a:rPr>
              <a:t>1. 入库：文档解析、分块、Embedding、索引</a:t>
            </a:r>
          </a:p>
          <a:p>
            <a:r>
              <a:rPr sz="1280">
                <a:solidFill>
                  <a:srgbClr val="566478"/>
                </a:solidFill>
                <a:latin typeface="Microsoft YaHei"/>
              </a:rPr>
              <a:t>2. 检索：改写、意图路由、多通道召回、Rerank</a:t>
            </a:r>
          </a:p>
          <a:p>
            <a:r>
              <a:rPr sz="1280">
                <a:solidFill>
                  <a:srgbClr val="566478"/>
                </a:solidFill>
                <a:latin typeface="Microsoft YaHei"/>
              </a:rPr>
              <a:t>3. 生成：证据组装、模板选择、流式输出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429000"/>
            <a:ext cx="4343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3429000"/>
            <a:ext cx="73152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3575304"/>
            <a:ext cx="3995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三个短路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3950207"/>
            <a:ext cx="399592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566478"/>
                </a:solidFill>
                <a:latin typeface="Microsoft YaHei"/>
              </a:rPr>
              <a:t>1. 歧义：先引导澄清</a:t>
            </a:r>
          </a:p>
          <a:p>
            <a:r>
              <a:rPr sz="1280">
                <a:solidFill>
                  <a:srgbClr val="566478"/>
                </a:solidFill>
                <a:latin typeface="Microsoft YaHei"/>
              </a:rPr>
              <a:t>2. SYSTEM：不检索直接回答</a:t>
            </a:r>
          </a:p>
          <a:p>
            <a:r>
              <a:rPr sz="1280">
                <a:solidFill>
                  <a:srgbClr val="566478"/>
                </a:solidFill>
                <a:latin typeface="Microsoft YaHei"/>
              </a:rPr>
              <a:t>3. 空召回：明确告知无相关文档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5074920"/>
            <a:ext cx="434340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5184648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Microsoft YaHei"/>
              </a:rPr>
              <a:t>代码锚点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5458968"/>
            <a:ext cx="4023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E2E8F0"/>
                </a:solidFill>
                <a:latin typeface="Consolas"/>
              </a:rPr>
              <a:t>StreamChatPipeline.execute(ctx)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为什么 RA 项目不能只靠大模型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项目里的知识是私域、动态、可审计的；RAG 是把这些知识接入模型的工程通道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8356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只问大模型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RAG 方案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私域知识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模型不知道企业内部制度、业务系统规则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从知识库检索真实文档作为证据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知识更新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模型参数不会随文档变化自动更新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更新文档 / 重建索引即可生效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可追溯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答案来源不清，难复盘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答案可回看召回 chunk、trace 节点和指标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幻觉风险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可能靠预训练知识补全细节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用 Prompt + evidence 约束回答边界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4800600"/>
            <a:ext cx="9966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48006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4946904"/>
            <a:ext cx="96194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讲述落点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5321807"/>
            <a:ext cx="961948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RAG 不是让模型“更聪明”，而是让模型在回答时有可控知识来源。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这也是后面多路召回、Rerank、Trace、评估存在的原因。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离线入库：从原始文档到向量索引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入库管道是 RAG 的地基；在线检索只是使用已经加工好的知识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34440"/>
            <a:ext cx="58064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gestion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717" y="1234440"/>
            <a:ext cx="1193710" cy="4846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1325880"/>
          <a:ext cx="4983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节点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产物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Fetcher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拉取本地、远程、S3、Feishu 等来源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DocumentSource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Parser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按文件类型解析文本、表格、图片、PDF 结构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ParsedDocument / Block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Chunker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结构化分块，生成可检索片段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VectorChunk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Enhancer / Enricher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可选增强、补充摘要或说明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增强后的 chunk 文本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Indexer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Embedding 后写入向量存储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KnowledgeVector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37960" y="4709160"/>
            <a:ext cx="4983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470916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4855464"/>
            <a:ext cx="46360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细节提醒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5230367"/>
            <a:ext cx="46360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66478"/>
                </a:solidFill>
                <a:latin typeface="Microsoft YaHei"/>
              </a:rPr>
              <a:t>入库质量差时，在线阶段通常只能“更努力地找错东西”。所以文档解析、分块粒度和 metadata 比很多人想象得更关键。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解析层：不同文档不是同一种处理方式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Parser 的目标不是简单抽文本，而是尽量保留文档结构和可回答信息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417320"/>
          <a:ext cx="6400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项目解析器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保留重点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Markdown / Text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MarkdownDocumentParser / Tika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标题层级、段落、列表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Excel / CSV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ExcelDocumentParser / CsvDocumentParser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表格结构、单元格值、超链接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PDF / Word / PPT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MinerU / Tika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版面结构、表格、公式、图片资源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Image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ImageDocumentParser + VLM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OCR 文本、图表关系、图片说明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混合文档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DocumentParserSelector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按类型选择最合适的解析器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06640" y="1508760"/>
            <a:ext cx="4069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655064"/>
            <a:ext cx="3721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为什么要保留结构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2029967"/>
            <a:ext cx="3721608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RAG 的召回单位不是“文件”，而是 Chunk。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如果表格、标题、列表、图片说明在解析阶段丢了，后面 Embedding 和检索都无法恢复这些信息。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794760"/>
            <a:ext cx="4069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3794760"/>
            <a:ext cx="73152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3941064"/>
            <a:ext cx="3721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项目素材可以展示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4315967"/>
            <a:ext cx="372160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可以用后台知识库 / 数据集截图说明：RA 不只是文本 QA，也在处理多类型知识资产。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Chunking 细节：语义边界、体量预算、特殊块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结构化 Chunking 是提高 context recall 的关键，不只是调一个 chunkSize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32186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优先级 1：整篇不分块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47087"/>
            <a:ext cx="321868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70">
                <a:solidFill>
                  <a:srgbClr val="566478"/>
                </a:solidFill>
                <a:latin typeface="Microsoft YaHei"/>
              </a:rPr>
              <a:t>当 chunkSize / targetChars = -1 时，整篇合成一个 DOCUMENT chunk。适合短文档或必须整体保真的材料。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472184"/>
            <a:ext cx="32186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优先级 2：Block-aware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47087"/>
            <a:ext cx="321868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70">
                <a:solidFill>
                  <a:srgbClr val="566478"/>
                </a:solidFill>
                <a:latin typeface="Microsoft YaHei"/>
              </a:rPr>
              <a:t>如果 Parser 产出结构化 blocks，就按 heading、paragraph、table、list、image、code 分派处理。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566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7" y="1472184"/>
            <a:ext cx="32186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优先级 3：Legacy 文本策略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7" y="1847087"/>
            <a:ext cx="321868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70">
                <a:solidFill>
                  <a:srgbClr val="566478"/>
                </a:solidFill>
                <a:latin typeface="Microsoft YaHei"/>
              </a:rPr>
              <a:t>blocks 为空时回退 fixed-size / structure-aware text chunker，避免无结构文档无法入库。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097280" y="3246120"/>
          <a:ext cx="98755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3291840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参数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默认值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DEFAULT_MAX_CHARS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512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每个 Chunk 的体量预算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DEFAULT_OVERLAP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段落重叠，缓解语义断裂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DEFAULT_ROWS_PER_CHUNK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表格每块最大行数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DEFAULT_LIST_ITEMS_PER_CHUNK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长列表分块 item 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846320" y="5650992"/>
            <a:ext cx="1920240" cy="347472"/>
          </a:xfrm>
          <a:prstGeom prst="roundRect">
            <a:avLst/>
          </a:prstGeom>
          <a:solidFill>
            <a:srgbClr val="E7F8F6"/>
          </a:solidFill>
          <a:ln>
            <a:solidFill>
              <a:srgbClr val="A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A34A"/>
                </a:solidFill>
                <a:latin typeface="Microsoft YaHei"/>
              </a:rPr>
              <a:t>这页建议讲一个表格/列表切分例子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Embedding 与向量存储：讲工程参数，不讲算法推导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这页只讲项目怎么接模型、怎么存向量、怎么保持可替换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0815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向量维度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7"/>
            <a:ext cx="308152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当前默认 dimension = 1536。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所有 embedding 模型候选需要与向量库字段维度保持一致。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30815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相似度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38527"/>
            <a:ext cx="308152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metric-type = COSINE。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PgVector 创建 HNSW + vector_cosine_ops 索引。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4173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41732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563624"/>
            <a:ext cx="30815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存储可切换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938527"/>
            <a:ext cx="308152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rag.vector.type = pg。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项目同时提供 PgVectorStoreService 和 MilvusVectorStoreService。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417320" y="3657600"/>
          <a:ext cx="9326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1089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模型候选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Provider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qwen-emb-8b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siliconflow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默认 embedding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qwen-emb-local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ollama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本地兜底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text-embedding-3-large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aihubmix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外部候选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2103120" y="5486400"/>
            <a:ext cx="7955279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03120" y="5486400"/>
            <a:ext cx="73152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5632704"/>
            <a:ext cx="7607807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13D"/>
                </a:solidFill>
                <a:latin typeface="Microsoft YaHei"/>
              </a:rPr>
              <a:t>讲述重点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6007607"/>
            <a:ext cx="7607807" cy="-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这里不展开 embedding 算法，只说明：模型路由 + 向量存储抽象让 RA 可以替换模型和存储后端。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在线 Pipeline：一次问题的真实执行顺序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后面所有检索优化都挂在这条主链路上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loadMemory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609344"/>
            <a:ext cx="164592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59152" y="1325880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rewriteQuery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50792" y="1609344"/>
            <a:ext cx="164592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15384" y="1325880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resolveIntents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07024" y="1609344"/>
            <a:ext cx="164592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71616" y="1325880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handleGuidance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63256" y="1609344"/>
            <a:ext cx="164592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7848" y="1325880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retrieve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19488" y="1609344"/>
            <a:ext cx="164592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84080" y="1325880"/>
            <a:ext cx="16916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streamRagResponse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423160"/>
          <a:ext cx="7406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输出/作用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loadMemory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conversationId, userId, question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history + 摘要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rewriteQuery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question + history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RewriteResult + subQuestions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resolveIntents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subQuestions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SubQuestionIntent 列表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handleGuidance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意图分数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歧义时短路返回引导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retrieve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意图 + topK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RetrievalContext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streamRagResponse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context + prompt plan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LLM 流式回答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8412480" y="2194560"/>
            <a:ext cx="3200400" cy="3429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2304288"/>
            <a:ext cx="2880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Microsoft YaHei"/>
              </a:rPr>
              <a:t>StreamChatPipeline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2578608"/>
            <a:ext cx="2880360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E2E8F0"/>
                </a:solidFill>
                <a:latin typeface="Consolas"/>
              </a:rPr>
              <a:t>public void execute(StreamChatContext ctx) {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loadMemory(ctx);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rewriteQuery(ctx);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resolveIntents(ctx);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if (handleGuidance(ctx)) return;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if (handleSystemOnly(ctx)) return;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RetrievalContext rc = retrieve(ctx);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if (handleEmptyRetrieval(ctx, rc)) return;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streamRagResponse(ctx, rc);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Memory + Query Rewrite：先补上下文，再改写问题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长对话场景下，用户问题经常依赖历史，不能直接拿原句去检索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0358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记忆窗口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7"/>
            <a:ext cx="303580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566478"/>
                </a:solidFill>
                <a:latin typeface="Microsoft YaHei"/>
              </a:rPr>
              <a:t>history-keep-turns = 4</a:t>
            </a:r>
          </a:p>
          <a:p>
            <a:r>
              <a:rPr sz="1280">
                <a:solidFill>
                  <a:srgbClr val="566478"/>
                </a:solidFill>
                <a:latin typeface="Microsoft YaHei"/>
              </a:rPr>
              <a:t>summary-start-turns = 5</a:t>
            </a:r>
          </a:p>
          <a:p>
            <a:r>
              <a:rPr sz="1280">
                <a:solidFill>
                  <a:srgbClr val="566478"/>
                </a:solidFill>
                <a:latin typeface="Microsoft YaHei"/>
              </a:rPr>
              <a:t>summary-enabled = true</a:t>
            </a:r>
          </a:p>
          <a:p>
            <a:r>
              <a:rPr sz="1280">
                <a:solidFill>
                  <a:srgbClr val="566478"/>
                </a:solidFill>
                <a:latin typeface="Microsoft YaHei"/>
              </a:rPr>
              <a:t>summary-max-chars = 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73152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563624"/>
            <a:ext cx="30358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改写能力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938527"/>
            <a:ext cx="303580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566478"/>
                </a:solidFill>
                <a:latin typeface="Microsoft YaHei"/>
              </a:rPr>
              <a:t>rewriteWithSplit(question, history)</a:t>
            </a:r>
          </a:p>
          <a:p/>
          <a:p>
            <a:r>
              <a:rPr sz="1280">
                <a:solidFill>
                  <a:srgbClr val="566478"/>
                </a:solidFill>
                <a:latin typeface="Microsoft YaHei"/>
              </a:rPr>
              <a:t>支持结合历史改写，并拆分多问句为多个子问题。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563624"/>
            <a:ext cx="30358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失败兜底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938527"/>
            <a:ext cx="303580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566478"/>
                </a:solidFill>
                <a:latin typeface="Microsoft YaHei"/>
              </a:rPr>
              <a:t>LLM 改写失败时回退原问题；拆分失败时仍保证至少一个查询可进入检索。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703320"/>
            <a:ext cx="9784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370332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5608" y="3849624"/>
            <a:ext cx="9436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例子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4224527"/>
            <a:ext cx="943660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66478"/>
                </a:solidFill>
                <a:latin typeface="Microsoft YaHei"/>
              </a:rPr>
              <a:t>用户连续问：</a:t>
            </a:r>
          </a:p>
          <a:p>
            <a:r>
              <a:rPr sz="1400">
                <a:solidFill>
                  <a:srgbClr val="566478"/>
                </a:solidFill>
                <a:latin typeface="Microsoft YaHei"/>
              </a:rPr>
              <a:t>第一轮：公司的报销流程是什么？</a:t>
            </a:r>
          </a:p>
          <a:p>
            <a:r>
              <a:rPr sz="1400">
                <a:solidFill>
                  <a:srgbClr val="566478"/>
                </a:solidFill>
                <a:latin typeface="Microsoft YaHei"/>
              </a:rPr>
              <a:t>第二轮：那发票抬头怎么开？</a:t>
            </a:r>
          </a:p>
          <a:p/>
          <a:p>
            <a:r>
              <a:rPr sz="1400">
                <a:solidFill>
                  <a:srgbClr val="566478"/>
                </a:solidFill>
                <a:latin typeface="Microsoft YaHei"/>
              </a:rPr>
              <a:t>第二轮需要结合历史，把“那”改写为“报销相关发票抬头/开票信息”。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意图树：把问题路由到知识库、系统回复或工具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意图不是为了分类好看，而是决定后续检索目标和 Prompt 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65836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字段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影响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kind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KB / MCP / SYSTEM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决定检索、工具或直接回复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level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DOMAIN / CATEGORY / TOPIC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组织意图层级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kbId / collectionName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绑定知识库和 collection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定向检索目标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mcpToolId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绑定工具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工具调用路由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topK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意图级召回数量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覆盖全局 topK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promptTemplate / snippet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节点级 Prompt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定制回答风格和规则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508760"/>
            <a:ext cx="3931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50876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1655064"/>
            <a:ext cx="3584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讲法建议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029967"/>
            <a:ext cx="3584448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把意图树类比为 RAG 的 Router：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先决定“去哪里找”，再决定“怎么把材料交给模型”。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这也是 RA 与简单向量检索 Demo 的区别。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886200"/>
            <a:ext cx="3931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3886200"/>
            <a:ext cx="731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4032504"/>
            <a:ext cx="3584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项目策略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4407407"/>
            <a:ext cx="35844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子问题并行分类，低分过滤，总意图数上限控制，避免多问句导致检索爆炸。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IntentResolver 细节：阈值、并发、总量控制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意图结果要既有召回覆盖，又不能把上下文带偏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7218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并发分类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47087"/>
            <a:ext cx="312724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每个 subQuestion 通过 intentClassifyExecutor 并行调用分类器，降低多问句延迟。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7218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低分过滤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47087"/>
            <a:ext cx="312724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INTENT_MIN_SCORE = 0.35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低于阈值的意图不会进入后续路由。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32588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3258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47218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数量上限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847087"/>
            <a:ext cx="312724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MAX_INTENT_COUNT = 3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每个子问题至少保留一个，再按分数分配剩余额度。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337560"/>
            <a:ext cx="9738360" cy="20574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9032" y="3447288"/>
            <a:ext cx="9418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Microsoft YaHei"/>
              </a:rPr>
              <a:t>IntentResolver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721608"/>
            <a:ext cx="941832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E2E8F0"/>
                </a:solidFill>
                <a:latin typeface="Consolas"/>
              </a:rPr>
              <a:t>resolve(rewriteResult)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subQuestions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classifyIntents(q)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filter(score &gt;= 0.35)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limit(3)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capTotalIntents(...)</a:t>
            </a:r>
          </a:p>
          <a:p/>
          <a:p>
            <a:r>
              <a:rPr sz="980">
                <a:solidFill>
                  <a:srgbClr val="E2E8F0"/>
                </a:solidFill>
                <a:latin typeface="Consolas"/>
              </a:rPr>
              <a:t>mergeIntentGroup(...)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kbIntents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mcpIntents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歧义引导：比误答更好的选择是先澄清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当多个知识方向都像正确答案时，系统先问清楚，避免错误检索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37160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1790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触发条件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2807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取 top-2 KB 意图分数：</a:t>
            </a:r>
          </a:p>
          <a:p>
            <a:r>
              <a:rPr sz="1250">
                <a:solidFill>
                  <a:srgbClr val="566478"/>
                </a:solidFill>
                <a:latin typeface="Microsoft YaHei"/>
              </a:rPr>
              <a:t>ratio = secondScore / firstScore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1790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明确歧义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ratio &gt;= 0.8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直接生成引导问题。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37160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371600"/>
            <a:ext cx="73152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51790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灰色地带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892807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0.65 &lt;= ratio &lt; 0.8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调用 LLM 二次确认。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337560"/>
            <a:ext cx="98755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3337560"/>
            <a:ext cx="73152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3483864"/>
            <a:ext cx="95280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例子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3858767"/>
            <a:ext cx="9528048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66478"/>
                </a:solidFill>
                <a:latin typeface="Microsoft YaHei"/>
              </a:rPr>
              <a:t>用户问：数据安全规范是什么？</a:t>
            </a:r>
          </a:p>
          <a:p/>
          <a:p>
            <a:r>
              <a:rPr sz="1400">
                <a:solidFill>
                  <a:srgbClr val="566478"/>
                </a:solidFill>
                <a:latin typeface="Microsoft YaHei"/>
              </a:rPr>
              <a:t>可能命中：OA 系统数据安全 / 互联网保险系统数据安全。</a:t>
            </a:r>
          </a:p>
          <a:p/>
          <a:p>
            <a:r>
              <a:rPr sz="1400">
                <a:solidFill>
                  <a:srgbClr val="566478"/>
                </a:solidFill>
                <a:latin typeface="Microsoft YaHei"/>
              </a:rPr>
              <a:t>直接回答可能答错业务域；先澄清能显著降低错误。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RetrievalEngine：按子问题并行构建上下文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它不是只调用向量库，而是把 KB 检索与工具结果合并成 RetrievalContext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SubQuestionIntent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170078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141732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KB / MCP 分组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00600" y="170078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0" y="141732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并行上下文构建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95160" y="170078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23760" y="141732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格式化 evidence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89720" y="170078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18320" y="141732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合并 RetrievalContext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8346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8346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2980944"/>
            <a:ext cx="30815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KB 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355847"/>
            <a:ext cx="308152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566478"/>
                </a:solidFill>
                <a:latin typeface="Microsoft YaHei"/>
              </a:rPr>
              <a:t>KB intents -&gt; MultiChannelRetrievalEngine -&gt; formatKbContext -&gt; kbContext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8346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28346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2980944"/>
            <a:ext cx="30815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MCP 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3355847"/>
            <a:ext cx="308152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566478"/>
                </a:solidFill>
                <a:latin typeface="Microsoft YaHei"/>
              </a:rPr>
              <a:t>MCP intents -&gt; 参数抽取 -&gt; 工具执行 -&gt; formatMcpContext -&gt; mcpContext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8346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834640"/>
            <a:ext cx="73152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980944"/>
            <a:ext cx="30815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多子问题合并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355847"/>
            <a:ext cx="308152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566478"/>
                </a:solidFill>
                <a:latin typeface="Microsoft YaHei"/>
              </a:rPr>
              <a:t>多个子问题分别包装为 sub-question-kb-wrapper / sub-question-mcp-wrapper，避免上下文混在一起。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4663440"/>
            <a:ext cx="964692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44752" y="477316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Microsoft YaHei"/>
              </a:rPr>
              <a:t>RetrievalEngine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5047488"/>
            <a:ext cx="9326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E2E8F0"/>
                </a:solidFill>
                <a:latin typeface="Consolas"/>
              </a:rPr>
              <a:t>retrieve(subIntents, topK)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CompletableFuture per subQuestion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buildSubQuestionContext(...)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retrieveAndRerank(...)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executeMcpAndMerge(...)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-&gt; RetrievalContext(kbContext, mcpContext, intentChunks)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多通道召回：什么时候定向，什么时候全局兜底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这一页是本次分享重点：精准召回和兜底召回如何共存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通道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启用条件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IntentDirectedSearch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配置开启；存在 KB 意图；意图分数达到 minIntentScore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按意图绑定 collection 精准检索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VectorGlobalSearch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定向关闭；无意图；maxScore &lt; 0.6；单一中等置信度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跨全部 KB collection 兜底/补充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PostProcessors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检索结束后按 order 顺序执行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去重、重排、截断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3703320"/>
            <a:ext cx="49377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ulti-channel-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29797"/>
            <a:ext cx="4937760" cy="13873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3749039"/>
            <a:ext cx="5074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749039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895343"/>
            <a:ext cx="47274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关键配置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4270246"/>
            <a:ext cx="472744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vector-global.confidence-threshold = 0.6</a:t>
            </a:r>
          </a:p>
          <a:p>
            <a:r>
              <a:rPr sz="1250">
                <a:solidFill>
                  <a:srgbClr val="566478"/>
                </a:solidFill>
                <a:latin typeface="Microsoft YaHei"/>
              </a:rPr>
              <a:t>vector-global.top-k-multiplier = 3</a:t>
            </a:r>
          </a:p>
          <a:p>
            <a:r>
              <a:rPr sz="1250">
                <a:solidFill>
                  <a:srgbClr val="566478"/>
                </a:solidFill>
                <a:latin typeface="Microsoft YaHei"/>
              </a:rPr>
              <a:t>intent-directed.min-intent-score = 0.4</a:t>
            </a:r>
          </a:p>
          <a:p>
            <a:r>
              <a:rPr sz="1250">
                <a:solidFill>
                  <a:srgbClr val="566478"/>
                </a:solidFill>
                <a:latin typeface="Microsoft YaHei"/>
              </a:rPr>
              <a:t>intent-directed.top-k-multiplier =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两个检索通道内部怎么工作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IntentDirected 负责准，VectorGlobal 负责兜底；二者并行执行，结果进入统一后处理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17904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13D"/>
                </a:solidFill>
                <a:latin typeface="Microsoft YaHei"/>
              </a:rPr>
              <a:t>IntentDirectedSearchChannel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4910328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priority = 1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1. 提取 KB 意图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2. 按意图对应 collection 并行检索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3. 每个意图取 topK * 2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4. 返回 channel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73152" cy="2194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517904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13D"/>
                </a:solidFill>
                <a:latin typeface="Microsoft YaHei"/>
              </a:rPr>
              <a:t>VectorGlobalSearchChannel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92807"/>
            <a:ext cx="4910328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priority = 10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1. 获取所有 KB collection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2. 对全部 collection 并行检索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3. 取 topK * 3 增大召回池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4. 作为低置信度兜底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343400"/>
            <a:ext cx="9829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434340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5608" y="4489704"/>
            <a:ext cx="9482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异常策略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864607"/>
            <a:ext cx="948232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>
                <a:solidFill>
                  <a:srgbClr val="566478"/>
                </a:solidFill>
                <a:latin typeface="Microsoft YaHei"/>
              </a:rPr>
              <a:t>每个通道异常时返回 emptyResult，不中断整个检索链路。</a:t>
            </a:r>
          </a:p>
          <a:p/>
          <a:p>
            <a:r>
              <a:rPr sz="1320">
                <a:solidFill>
                  <a:srgbClr val="566478"/>
                </a:solidFill>
                <a:latin typeface="Microsoft YaHei"/>
              </a:rPr>
              <a:t>这点对线上稳定性很重要：一个通道挂了，另一个通道仍可提供结果。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后处理链：去重、重排、TopK 截断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召回阶段追求覆盖，后处理阶段负责把上下文变干净、变有序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417320"/>
            <a:ext cx="19202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Channel Results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170078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81528" y="1417320"/>
            <a:ext cx="19202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Merge Chunks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01768" y="170078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21808" y="1417320"/>
            <a:ext cx="19202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Dedup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42048" y="170078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62088" y="1417320"/>
            <a:ext cx="19202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Rerank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82328" y="170078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02368" y="1417320"/>
            <a:ext cx="19202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Final TopK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" y="251460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处理器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顺序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4213D"/>
                          </a:solidFill>
                          <a:latin typeface="Microsoft YaHei"/>
                        </a:rPr>
                        <a:t>细节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Deduplication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order = 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按 chunk id 或 content hash 去重；按通道优先级保留，再取最高分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Rerank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order = 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调用 RerankService.rerank(query, chunks, topK)；TopK 截断发生在这里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无 Rerank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566478"/>
                          </a:solidFill>
                          <a:latin typeface="Microsoft YaHei"/>
                        </a:rPr>
                        <a:t>merged + dedup 后全部流入 Prompt，可能导致上下文噪声和长度膨胀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463040" y="5074920"/>
            <a:ext cx="9326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0" y="5074920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64208" y="5221224"/>
            <a:ext cx="89794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讲述重点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596127"/>
            <a:ext cx="8979408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>
                <a:solidFill>
                  <a:srgbClr val="566478"/>
                </a:solidFill>
                <a:latin typeface="Microsoft YaHei"/>
              </a:rPr>
              <a:t>Rerank 不是锦上添花，它是“召回池”和“最终证据”之间的最后一道质量门。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Prompt 证据组装：把检索结果变成模型可用上下文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模型能否基于证据回答，取决于证据质量，也取决于消息结构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2588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3258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72184"/>
            <a:ext cx="33101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场景规划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47087"/>
            <a:ext cx="3310128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RAGPromptService.plan(context)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KB_ONLY：只用知识库证据</a:t>
            </a:r>
          </a:p>
          <a:p>
            <a:r>
              <a:rPr sz="1250">
                <a:solidFill>
                  <a:srgbClr val="566478"/>
                </a:solidFill>
                <a:latin typeface="Microsoft YaHei"/>
              </a:rPr>
              <a:t>MCP_ONLY：只用工具结果</a:t>
            </a:r>
          </a:p>
          <a:p>
            <a:r>
              <a:rPr sz="1250">
                <a:solidFill>
                  <a:srgbClr val="566478"/>
                </a:solidFill>
                <a:latin typeface="Microsoft YaHei"/>
              </a:rPr>
              <a:t>MIXED：知识库 + 工具结果混合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325880"/>
            <a:ext cx="3657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1325880"/>
            <a:ext cx="73152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472184"/>
            <a:ext cx="33101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模板选择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847087"/>
            <a:ext cx="3310128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单意图 + 节点有 promptTemplate：使用节点模板。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否则使用 answer-chat-kb / answer-chat-mcp / mixed 默认模板。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132588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4192" y="132588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472184"/>
            <a:ext cx="2898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消息顺序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847087"/>
            <a:ext cx="2898648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1. System Prompt</a:t>
            </a:r>
          </a:p>
          <a:p>
            <a:r>
              <a:rPr sz="1250">
                <a:solidFill>
                  <a:srgbClr val="566478"/>
                </a:solidFill>
                <a:latin typeface="Microsoft YaHei"/>
              </a:rPr>
              <a:t>2. History Messages</a:t>
            </a:r>
          </a:p>
          <a:p>
            <a:r>
              <a:rPr sz="1250">
                <a:solidFill>
                  <a:srgbClr val="566478"/>
                </a:solidFill>
                <a:latin typeface="Microsoft YaHei"/>
              </a:rPr>
              <a:t>3. Evidence + User Question</a:t>
            </a:r>
          </a:p>
          <a:p/>
          <a:p>
            <a:r>
              <a:rPr sz="1250">
                <a:solidFill>
                  <a:srgbClr val="566478"/>
                </a:solidFill>
                <a:latin typeface="Microsoft YaHei"/>
              </a:rPr>
              <a:t>摘要作为 history 的 system message 紧跟系统提示。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77639"/>
            <a:ext cx="10012680" cy="1325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1872" y="4087367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3C5FD"/>
                </a:solidFill>
                <a:latin typeface="Microsoft YaHei"/>
              </a:rPr>
              <a:t>RAGPromptService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361687"/>
            <a:ext cx="96926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E2E8F0"/>
                </a:solidFill>
                <a:latin typeface="Consolas"/>
              </a:rPr>
              <a:t>buildStructuredMessages(context, history, question, subQuestions)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messages.add(systemPrompt)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messages.addAll(history)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userContent = mergeEvidenceAndQuestion(evidenceBody, userQuestion)</a:t>
            </a:r>
          </a:p>
          <a:p>
            <a:r>
              <a:rPr sz="980">
                <a:solidFill>
                  <a:srgbClr val="E2E8F0"/>
                </a:solidFill>
                <a:latin typeface="Consolas"/>
              </a:rPr>
              <a:t>  messages.add(ChatMessage.user(userContent))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Trace / Debug：RAG 链路出错时怎么查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生产化 RAG 的关键不是永远不出错，而是出错后能定位到阶段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532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8798"/>
            <a:ext cx="5532120" cy="313476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325880"/>
          <a:ext cx="51663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Trace 节点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观察什么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query-rewrite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改写耗时、是否失败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intent-resolve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意图分类耗时和状态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guidance-detect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是否触发歧义引导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retrieval-engine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检索总耗时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multi-channel-retrieval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通道级召回情况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llm-stream-routing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模型路由和流式生成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355080" y="4709160"/>
            <a:ext cx="5166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470916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4855464"/>
            <a:ext cx="48188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排查路径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5230367"/>
            <a:ext cx="481888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66478"/>
                </a:solidFill>
                <a:latin typeface="Microsoft YaHei"/>
              </a:rPr>
              <a:t>答案差：先看是否召回到正确文档；召回正确再看 Rerank / Prompt；召回错误再看 Rewrite / Intent / Chunking。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评估闭环：用指标定位优化方向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不要只问“回答好不好”，要拆成意图、检索、生成、性能四层看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9728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层次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4213D"/>
                          </a:solidFill>
                          <a:latin typeface="Microsoft YaHei"/>
                        </a:rPr>
                        <a:t>低分时优先检查</a:t>
                      </a:r>
                    </a:p>
                  </a:txBody>
                  <a:tcPr marL="54864" marR="54864" marT="27432" marB="27432">
                    <a:solidFill>
                      <a:srgbClr val="E2E8F0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意图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Top-1 Accuracy / micro-F1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意图树、示例、分类 Prompt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检索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Hit@K / Recall@K / MRR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Chunking、路由、通道阈值、向量模型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生成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faithfulness / answer_correctness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Prompt 约束、证据顺序、模型参数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工具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Tool name + args match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MCP 意图、参数抽取 Prompt、schema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拒答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误拒率 / 错答率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空召回策略、无依据回答约束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性能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端到端延迟 / TTFT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66478"/>
                          </a:solidFill>
                          <a:latin typeface="Microsoft YaHei"/>
                        </a:rPr>
                        <a:t>并发池、模型路由、通道数量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60120" y="4983480"/>
            <a:ext cx="10424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498348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5129784"/>
            <a:ext cx="100766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最后收束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5504687"/>
            <a:ext cx="1007668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RA 项目的 RAG 工程化可以总结为三句话：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可路由：先判断去哪里找。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可扩展：检索通道、后处理器、入库节点都能插拔。</a:t>
            </a:r>
          </a:p>
          <a:p>
            <a:r>
              <a:rPr sz="1300">
                <a:solidFill>
                  <a:srgbClr val="566478"/>
                </a:solidFill>
                <a:latin typeface="Microsoft YaHei"/>
              </a:rPr>
              <a:t>可评估：Trace + Eval + Feedback 让优化可复盘。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